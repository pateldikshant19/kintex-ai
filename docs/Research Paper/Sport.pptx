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83" r:id="rId16"/>
    <p:sldId id="282" r:id="rId17"/>
    <p:sldId id="281" r:id="rId18"/>
    <p:sldId id="280" r:id="rId19"/>
    <p:sldId id="284" r:id="rId20"/>
    <p:sldId id="287" r:id="rId21"/>
    <p:sldId id="286" r:id="rId22"/>
    <p:sldId id="285" r:id="rId23"/>
    <p:sldId id="292" r:id="rId24"/>
    <p:sldId id="291" r:id="rId25"/>
    <p:sldId id="290" r:id="rId26"/>
    <p:sldId id="289" r:id="rId27"/>
    <p:sldId id="288" r:id="rId28"/>
    <p:sldId id="293" r:id="rId29"/>
    <p:sldId id="294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</p:sldIdLst>
  <p:sldSz cx="9144000" cy="6858000" type="screen4x3"/>
  <p:notesSz cx="6858000" cy="9144000"/>
  <p:embeddedFontLst>
    <p:embeddedFont>
      <p:font typeface="Algerian" panose="04020705040A02060702" pitchFamily="82" charset="0"/>
      <p:regular r:id="rId41"/>
    </p:embeddedFont>
    <p:embeddedFont>
      <p:font typeface="Arial Black" panose="020B0A04020102020204" pitchFamily="34" charset="0"/>
      <p:regular r:id="rId42"/>
      <p:bold r:id="rId43"/>
    </p:embeddedFont>
    <p:embeddedFont>
      <p:font typeface="Arimo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8Dpilkh+DVdLXiDkX+6O11P2T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DF227A-F573-4BBC-B072-E16E01873FA6}" v="33" dt="2026-01-30T05:03:49.169"/>
  </p1510:revLst>
</p1510:revInfo>
</file>

<file path=ppt/tableStyles.xml><?xml version="1.0" encoding="utf-8"?>
<a:tblStyleLst xmlns:a="http://schemas.openxmlformats.org/drawingml/2006/main" def="{60C65748-1827-42CB-AE1D-FC8656A6279B}">
  <a:tblStyle styleId="{60C65748-1827-42CB-AE1D-FC8656A6279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CEC"/>
          </a:solidFill>
        </a:fill>
      </a:tcStyle>
    </a:wholeTbl>
    <a:band1H>
      <a:tcTxStyle/>
      <a:tcStyle>
        <a:tcBdr/>
        <a:fill>
          <a:solidFill>
            <a:srgbClr val="D6D6D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6D6D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kshant Patel" userId="607f7bedb05395ab" providerId="LiveId" clId="{150323B3-C949-4E41-BF58-CFD7687C5D4C}"/>
    <pc:docChg chg="undo custSel modSld sldOrd">
      <pc:chgData name="Dikshant Patel" userId="607f7bedb05395ab" providerId="LiveId" clId="{150323B3-C949-4E41-BF58-CFD7687C5D4C}" dt="2026-01-30T05:03:56.427" v="199" actId="113"/>
      <pc:docMkLst>
        <pc:docMk/>
      </pc:docMkLst>
      <pc:sldChg chg="modSp mod">
        <pc:chgData name="Dikshant Patel" userId="607f7bedb05395ab" providerId="LiveId" clId="{150323B3-C949-4E41-BF58-CFD7687C5D4C}" dt="2026-01-30T04:40:52.483" v="8" actId="255"/>
        <pc:sldMkLst>
          <pc:docMk/>
          <pc:sldMk cId="0" sldId="269"/>
        </pc:sldMkLst>
        <pc:spChg chg="mod">
          <ac:chgData name="Dikshant Patel" userId="607f7bedb05395ab" providerId="LiveId" clId="{150323B3-C949-4E41-BF58-CFD7687C5D4C}" dt="2026-01-30T04:40:52.483" v="8" actId="255"/>
          <ac:spMkLst>
            <pc:docMk/>
            <pc:sldMk cId="0" sldId="269"/>
            <ac:spMk id="212" creationId="{00000000-0000-0000-0000-000000000000}"/>
          </ac:spMkLst>
        </pc:spChg>
      </pc:sldChg>
      <pc:sldChg chg="modSp mod">
        <pc:chgData name="Dikshant Patel" userId="607f7bedb05395ab" providerId="LiveId" clId="{150323B3-C949-4E41-BF58-CFD7687C5D4C}" dt="2026-01-30T04:41:09.335" v="12" actId="255"/>
        <pc:sldMkLst>
          <pc:docMk/>
          <pc:sldMk cId="0" sldId="270"/>
        </pc:sldMkLst>
        <pc:spChg chg="mod">
          <ac:chgData name="Dikshant Patel" userId="607f7bedb05395ab" providerId="LiveId" clId="{150323B3-C949-4E41-BF58-CFD7687C5D4C}" dt="2026-01-30T04:41:09.335" v="12" actId="255"/>
          <ac:spMkLst>
            <pc:docMk/>
            <pc:sldMk cId="0" sldId="270"/>
            <ac:spMk id="221" creationId="{00000000-0000-0000-0000-000000000000}"/>
          </ac:spMkLst>
        </pc:spChg>
      </pc:sldChg>
      <pc:sldChg chg="modSp mod">
        <pc:chgData name="Dikshant Patel" userId="607f7bedb05395ab" providerId="LiveId" clId="{150323B3-C949-4E41-BF58-CFD7687C5D4C}" dt="2026-01-30T04:41:34.680" v="16" actId="113"/>
        <pc:sldMkLst>
          <pc:docMk/>
          <pc:sldMk cId="0" sldId="271"/>
        </pc:sldMkLst>
        <pc:spChg chg="mod">
          <ac:chgData name="Dikshant Patel" userId="607f7bedb05395ab" providerId="LiveId" clId="{150323B3-C949-4E41-BF58-CFD7687C5D4C}" dt="2026-01-30T04:41:34.680" v="16" actId="113"/>
          <ac:spMkLst>
            <pc:docMk/>
            <pc:sldMk cId="0" sldId="271"/>
            <ac:spMk id="230" creationId="{00000000-0000-0000-0000-000000000000}"/>
          </ac:spMkLst>
        </pc:spChg>
      </pc:sldChg>
      <pc:sldChg chg="addSp delSp modSp mod">
        <pc:chgData name="Dikshant Patel" userId="607f7bedb05395ab" providerId="LiveId" clId="{150323B3-C949-4E41-BF58-CFD7687C5D4C}" dt="2026-01-30T04:48:36.571" v="142" actId="20577"/>
        <pc:sldMkLst>
          <pc:docMk/>
          <pc:sldMk cId="0" sldId="272"/>
        </pc:sldMkLst>
        <pc:spChg chg="add mod">
          <ac:chgData name="Dikshant Patel" userId="607f7bedb05395ab" providerId="LiveId" clId="{150323B3-C949-4E41-BF58-CFD7687C5D4C}" dt="2026-01-30T04:45:35.927" v="92"/>
          <ac:spMkLst>
            <pc:docMk/>
            <pc:sldMk cId="0" sldId="272"/>
            <ac:spMk id="2" creationId="{D345A2C3-A53D-A607-2D17-0892BE102D15}"/>
          </ac:spMkLst>
        </pc:spChg>
        <pc:spChg chg="add mod">
          <ac:chgData name="Dikshant Patel" userId="607f7bedb05395ab" providerId="LiveId" clId="{150323B3-C949-4E41-BF58-CFD7687C5D4C}" dt="2026-01-30T04:45:57.856" v="97"/>
          <ac:spMkLst>
            <pc:docMk/>
            <pc:sldMk cId="0" sldId="272"/>
            <ac:spMk id="3" creationId="{998945DD-543F-1942-F8F6-3688A1D0BBF2}"/>
          </ac:spMkLst>
        </pc:spChg>
        <pc:spChg chg="add del mod">
          <ac:chgData name="Dikshant Patel" userId="607f7bedb05395ab" providerId="LiveId" clId="{150323B3-C949-4E41-BF58-CFD7687C5D4C}" dt="2026-01-30T04:48:36.571" v="142" actId="20577"/>
          <ac:spMkLst>
            <pc:docMk/>
            <pc:sldMk cId="0" sldId="272"/>
            <ac:spMk id="239" creationId="{00000000-0000-0000-0000-000000000000}"/>
          </ac:spMkLst>
        </pc:spChg>
      </pc:sldChg>
      <pc:sldChg chg="modSp mod">
        <pc:chgData name="Dikshant Patel" userId="607f7bedb05395ab" providerId="LiveId" clId="{150323B3-C949-4E41-BF58-CFD7687C5D4C}" dt="2026-01-30T04:48:24.724" v="138" actId="255"/>
        <pc:sldMkLst>
          <pc:docMk/>
          <pc:sldMk cId="0" sldId="273"/>
        </pc:sldMkLst>
        <pc:spChg chg="mod">
          <ac:chgData name="Dikshant Patel" userId="607f7bedb05395ab" providerId="LiveId" clId="{150323B3-C949-4E41-BF58-CFD7687C5D4C}" dt="2026-01-30T04:48:24.724" v="138" actId="255"/>
          <ac:spMkLst>
            <pc:docMk/>
            <pc:sldMk cId="0" sldId="273"/>
            <ac:spMk id="249" creationId="{00000000-0000-0000-0000-000000000000}"/>
          </ac:spMkLst>
        </pc:spChg>
      </pc:sldChg>
      <pc:sldChg chg="addSp delSp modSp mod">
        <pc:chgData name="Dikshant Patel" userId="607f7bedb05395ab" providerId="LiveId" clId="{150323B3-C949-4E41-BF58-CFD7687C5D4C}" dt="2026-01-30T04:57:45.767" v="162" actId="255"/>
        <pc:sldMkLst>
          <pc:docMk/>
          <pc:sldMk cId="0" sldId="274"/>
        </pc:sldMkLst>
        <pc:spChg chg="add">
          <ac:chgData name="Dikshant Patel" userId="607f7bedb05395ab" providerId="LiveId" clId="{150323B3-C949-4E41-BF58-CFD7687C5D4C}" dt="2026-01-30T04:49:58.572" v="143"/>
          <ac:spMkLst>
            <pc:docMk/>
            <pc:sldMk cId="0" sldId="274"/>
            <ac:spMk id="2" creationId="{355A7644-42C2-9127-BDD7-F095B4444B27}"/>
          </ac:spMkLst>
        </pc:spChg>
        <pc:spChg chg="add mod">
          <ac:chgData name="Dikshant Patel" userId="607f7bedb05395ab" providerId="LiveId" clId="{150323B3-C949-4E41-BF58-CFD7687C5D4C}" dt="2026-01-30T04:50:03.228" v="145"/>
          <ac:spMkLst>
            <pc:docMk/>
            <pc:sldMk cId="0" sldId="274"/>
            <ac:spMk id="3" creationId="{9767970D-10C4-0DA5-6571-2F84DCB02172}"/>
          </ac:spMkLst>
        </pc:spChg>
        <pc:spChg chg="add del mod">
          <ac:chgData name="Dikshant Patel" userId="607f7bedb05395ab" providerId="LiveId" clId="{150323B3-C949-4E41-BF58-CFD7687C5D4C}" dt="2026-01-30T04:57:45.767" v="162" actId="255"/>
          <ac:spMkLst>
            <pc:docMk/>
            <pc:sldMk cId="0" sldId="274"/>
            <ac:spMk id="258" creationId="{00000000-0000-0000-0000-000000000000}"/>
          </ac:spMkLst>
        </pc:spChg>
      </pc:sldChg>
      <pc:sldChg chg="addSp delSp modSp mod">
        <pc:chgData name="Dikshant Patel" userId="607f7bedb05395ab" providerId="LiveId" clId="{150323B3-C949-4E41-BF58-CFD7687C5D4C}" dt="2026-01-30T04:59:01.613" v="180" actId="255"/>
        <pc:sldMkLst>
          <pc:docMk/>
          <pc:sldMk cId="0" sldId="275"/>
        </pc:sldMkLst>
        <pc:spChg chg="add mod">
          <ac:chgData name="Dikshant Patel" userId="607f7bedb05395ab" providerId="LiveId" clId="{150323B3-C949-4E41-BF58-CFD7687C5D4C}" dt="2026-01-30T04:58:02.911" v="164"/>
          <ac:spMkLst>
            <pc:docMk/>
            <pc:sldMk cId="0" sldId="275"/>
            <ac:spMk id="2" creationId="{ABB8F695-6507-4194-84D3-D63D25C5A233}"/>
          </ac:spMkLst>
        </pc:spChg>
        <pc:spChg chg="add del mod">
          <ac:chgData name="Dikshant Patel" userId="607f7bedb05395ab" providerId="LiveId" clId="{150323B3-C949-4E41-BF58-CFD7687C5D4C}" dt="2026-01-30T04:59:01.613" v="180" actId="255"/>
          <ac:spMkLst>
            <pc:docMk/>
            <pc:sldMk cId="0" sldId="275"/>
            <ac:spMk id="267" creationId="{00000000-0000-0000-0000-000000000000}"/>
          </ac:spMkLst>
        </pc:spChg>
      </pc:sldChg>
      <pc:sldChg chg="modSp mod">
        <pc:chgData name="Dikshant Patel" userId="607f7bedb05395ab" providerId="LiveId" clId="{150323B3-C949-4E41-BF58-CFD7687C5D4C}" dt="2026-01-30T05:03:56.427" v="199" actId="113"/>
        <pc:sldMkLst>
          <pc:docMk/>
          <pc:sldMk cId="0" sldId="276"/>
        </pc:sldMkLst>
        <pc:spChg chg="mod">
          <ac:chgData name="Dikshant Patel" userId="607f7bedb05395ab" providerId="LiveId" clId="{150323B3-C949-4E41-BF58-CFD7687C5D4C}" dt="2026-01-30T05:03:56.427" v="199" actId="113"/>
          <ac:spMkLst>
            <pc:docMk/>
            <pc:sldMk cId="0" sldId="276"/>
            <ac:spMk id="276" creationId="{00000000-0000-0000-0000-000000000000}"/>
          </ac:spMkLst>
        </pc:spChg>
      </pc:sldChg>
      <pc:sldChg chg="ord">
        <pc:chgData name="Dikshant Patel" userId="607f7bedb05395ab" providerId="LiveId" clId="{150323B3-C949-4E41-BF58-CFD7687C5D4C}" dt="2026-01-29T08:46:08.193" v="1"/>
        <pc:sldMkLst>
          <pc:docMk/>
          <pc:sldMk cId="1431435363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82148E8C-0210-1AB3-8CDB-05FEE51A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00DEA676-AE8D-65A7-B8B5-4993E6CC5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8CAD0656-6E10-B10D-D790-3A19ED6E6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952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FBE3E370-C50D-31A3-B596-B4FA89A6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CC6751C2-FC7E-F855-3622-8B4112AA0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B52A26A7-EE7C-4F2F-0315-1F1F20C7B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7206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CFC0C84F-047F-7D1F-DBFB-0ADD4DF9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4DBC2674-2C13-764F-5AC3-127EB4221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2898C3FB-77CA-E8FA-CEAB-2EF51E16D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0884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1924201-6681-C404-B199-8D51D5DF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3D3D381B-DF58-F57C-C28E-29B4B729B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BC827173-131D-F101-4165-BA6CCA90B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34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B012410A-C592-D405-625B-CF34B172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034C3BF0-D466-D86F-9732-6422C11769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F87D1858-11F1-B2DC-3785-901BCD70A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9830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2197D859-F918-6E6A-4709-B5040460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E6AE8BFE-EB2A-D7D8-A0EF-60849EAF8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B8B694B4-9C55-41AC-D00E-C72CE1CB3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3554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E4B97491-DC66-DDFB-1B12-C48D699A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F33E3A79-793F-5379-57D1-EB03C581F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1AC507C1-7BC4-14F8-B7D0-B403A6554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6986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AD80F1B-0EB2-D533-C256-F187FBC3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FA64DDB1-189F-F3CB-5FDE-C4F189C87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43D02788-8AFD-6CFD-F02D-C8917F713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2053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A887757C-FA9E-C020-5066-38872E42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20076DD1-5A9D-643D-0338-A9C0FCE03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C7DC00B5-8204-1433-0D70-903DB5CFB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2043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8B37ADEA-3C12-FC77-F949-82E10D73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088989F7-9000-4C66-A6CC-623C421F8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B7806CAE-3045-40F8-4157-6304E4437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9214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49B720ED-6AE2-7990-D331-9D13819D0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78DBD0A3-F29E-A719-62D3-FE9F6E50A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E01C196A-7797-6076-D8A6-02E9C1831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24314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FCB91FA0-AD0F-FF0B-7663-138AE511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CA687E36-98B8-31A9-A0EA-32C4EC312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FB9DAC19-6B48-35C4-D9E6-8DC3E4881E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710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F062FEEE-556C-0777-5E3B-AD9C9131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801BF158-BF15-DB05-C60C-0506D1679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AAAE3531-FD69-5419-10C1-A595F6A81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860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23E4021-370E-B482-B209-610AFB0C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E0310A27-F4D9-106B-7010-D12B0791A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D3FCBCDD-8EAB-5642-1F5A-25390C134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97189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BCE64CB9-8104-6F6F-5085-C16B5AE0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69C4FE1A-E7CB-F14E-40DE-1AB8AE201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6F8BDF45-9159-A558-C0BB-ADA287F99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2727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A2CA332F-5A3F-037E-A27E-4DA231EF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B95932D1-CAC0-A2C1-B102-0AC027BE1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C4CBDC38-946A-12D4-C531-C9E474B06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19176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22" name="Google Shape;22;p24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4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1"/>
          </p:nvPr>
        </p:nvSpPr>
        <p:spPr>
          <a:xfrm>
            <a:off x="163068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2"/>
          </p:nvPr>
        </p:nvSpPr>
        <p:spPr>
          <a:xfrm>
            <a:off x="509016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2"/>
          </p:nvPr>
        </p:nvSpPr>
        <p:spPr>
          <a:xfrm>
            <a:off x="1627632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3"/>
          </p:nvPr>
        </p:nvSpPr>
        <p:spPr>
          <a:xfrm>
            <a:off x="5093208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body" idx="4"/>
          </p:nvPr>
        </p:nvSpPr>
        <p:spPr>
          <a:xfrm>
            <a:off x="5093208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2"/>
          <p:cNvSpPr>
            <a:spLocks noGrp="1"/>
          </p:cNvSpPr>
          <p:nvPr>
            <p:ph type="pic" idx="2"/>
          </p:nvPr>
        </p:nvSpPr>
        <p:spPr>
          <a:xfrm>
            <a:off x="-1" y="0"/>
            <a:ext cx="9000877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32"/>
          <p:cNvSpPr txBox="1">
            <a:spLocks noGrp="1"/>
          </p:cNvSpPr>
          <p:nvPr>
            <p:ph type="body" idx="1"/>
          </p:nvPr>
        </p:nvSpPr>
        <p:spPr>
          <a:xfrm>
            <a:off x="457200" y="57150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1"/>
          </p:nvPr>
        </p:nvSpPr>
        <p:spPr>
          <a:xfrm rot="5400000">
            <a:off x="2080419" y="129382"/>
            <a:ext cx="4373563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 sz="3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/>
              <a:t>AI-Driven Sport Platform </a:t>
            </a:r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3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3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ctrTitle"/>
          </p:nvPr>
        </p:nvSpPr>
        <p:spPr>
          <a:xfrm>
            <a:off x="133350" y="1371600"/>
            <a:ext cx="87058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sz="3000">
                <a:latin typeface="Arial Black"/>
                <a:ea typeface="Arial Black"/>
                <a:cs typeface="Arial Black"/>
                <a:sym typeface="Arial Black"/>
              </a:rPr>
              <a:t>PRESENTATION ON</a:t>
            </a:r>
            <a:br>
              <a:rPr lang="en-US" sz="3000"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n-US" sz="300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000"/>
              <a:t>AI-DRIVEN SPORT ANALYTICS PLATFORM</a:t>
            </a:r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subTitle" idx="1"/>
          </p:nvPr>
        </p:nvSpPr>
        <p:spPr>
          <a:xfrm>
            <a:off x="35496" y="4005064"/>
            <a:ext cx="5832648" cy="216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lang="en-US" sz="1500"/>
              <a:t>PRESENTED BY :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lang="en-US" sz="1500"/>
              <a:t>DIKSHANT PATEL (2303031080038)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lang="en-US" sz="1500"/>
              <a:t>DISHANT RANA (2303031080243)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lang="en-US" sz="1500"/>
              <a:t>SAHIL PATEL (2303031080236)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</a:pPr>
            <a:r>
              <a:rPr lang="en-US" sz="1500"/>
              <a:t>FENIL VACHHANI (2303031080253)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5638800" y="4005064"/>
            <a:ext cx="4117776" cy="200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UNDER GUIDANCE OF : 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KARNAVI DESAI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ASSISTANT PROFESSOR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(IT DEPARTMENT) </a:t>
            </a:r>
            <a:endParaRPr/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714876" cy="92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mo"/>
              <a:buNone/>
            </a:pPr>
            <a:r>
              <a:rPr lang="en-US" sz="3000">
                <a:latin typeface="Arimo"/>
                <a:ea typeface="Arimo"/>
                <a:cs typeface="Arimo"/>
                <a:sym typeface="Arimo"/>
              </a:rPr>
              <a:t>OUTLINE</a:t>
            </a:r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Aim 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Application/s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Existing Work Flow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Proposed Work Flow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342900" lvl="0" indent="-34290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0" lvl="0" indent="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ftr" idx="11"/>
          </p:nvPr>
        </p:nvSpPr>
        <p:spPr>
          <a:xfrm>
            <a:off x="388374" y="6581530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 dirty="0"/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08142" y="5976936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INTRODUCTION</a:t>
            </a:r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algn="ctr"/>
            <a:r>
              <a:rPr lang="en-US" sz="3900" dirty="0"/>
              <a:t>AI-Driven Sports Analytics Platform</a:t>
            </a:r>
            <a:endParaRPr lang="en-US" sz="3900" b="0" dirty="0"/>
          </a:p>
          <a:p>
            <a:br>
              <a:rPr lang="en-US" b="0" dirty="0"/>
            </a:br>
            <a:endParaRPr lang="en-US" b="0" dirty="0"/>
          </a:p>
          <a:p>
            <a:r>
              <a:rPr lang="en-US" sz="2600" b="0" dirty="0"/>
              <a:t>Sports analytics has revolutionized how athletes train, compete,</a:t>
            </a:r>
          </a:p>
          <a:p>
            <a:r>
              <a:rPr lang="en-US" sz="2600" b="0" dirty="0"/>
              <a:t>and recover. Our platform leverages artificial intelligence and</a:t>
            </a:r>
          </a:p>
          <a:p>
            <a:r>
              <a:rPr lang="en-US" sz="2600" b="0" dirty="0"/>
              <a:t>machine learning to provide comprehensive insights for</a:t>
            </a:r>
          </a:p>
          <a:p>
            <a:r>
              <a:rPr lang="en-US" sz="2600" b="0" dirty="0"/>
              <a:t>performance optimization and injury prevention.</a:t>
            </a:r>
          </a:p>
          <a:p>
            <a:endParaRPr lang="en-US" dirty="0"/>
          </a:p>
          <a:p>
            <a:r>
              <a:rPr lang="en-US" sz="2300" dirty="0"/>
              <a:t>Key Highlights:</a:t>
            </a:r>
            <a:endParaRPr lang="en-US" sz="2300" b="0" dirty="0"/>
          </a:p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US" sz="2300" b="0" dirty="0"/>
              <a:t>Real-time performance tracking and analysis</a:t>
            </a:r>
          </a:p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US" sz="2300" b="0" dirty="0"/>
              <a:t>Predictive analytics for injury risk assessment</a:t>
            </a:r>
          </a:p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US" sz="2300" b="0" dirty="0"/>
              <a:t>Sport-specific metrics and insights</a:t>
            </a:r>
          </a:p>
          <a:p>
            <a:pPr marL="571500" indent="-342900" fontAlgn="base">
              <a:buFont typeface="Arial" panose="020B0604020202020204" pitchFamily="34" charset="0"/>
              <a:buChar char="•"/>
            </a:pPr>
            <a:r>
              <a:rPr lang="en-US" sz="2300" b="0" dirty="0"/>
              <a:t>Role-based access for different stakeholders</a:t>
            </a:r>
          </a:p>
          <a:p>
            <a:br>
              <a:rPr lang="en-US" b="0" dirty="0"/>
            </a:b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AI-Driven Sport Platform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p3"/>
          <p:cNvSpPr txBox="1">
            <a:spLocks noGrp="1"/>
          </p:cNvSpPr>
          <p:nvPr>
            <p:ph type="sldNum" idx="12"/>
          </p:nvPr>
        </p:nvSpPr>
        <p:spPr>
          <a:xfrm>
            <a:off x="8686800" y="5976936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MOTIVATION</a:t>
            </a:r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Automated Insights:</a:t>
            </a:r>
            <a:r>
              <a:rPr lang="en-US" b="0" dirty="0"/>
              <a:t> AI turns complex data into quick, accurate decisions.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b="0" dirty="0"/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Injury Prevention: </a:t>
            </a:r>
            <a:r>
              <a:rPr lang="en-US" b="0" dirty="0"/>
              <a:t>Early risk detection minimizes injuries and recovery time.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Personalized Performance: </a:t>
            </a:r>
            <a:r>
              <a:rPr lang="en-US" b="0" dirty="0"/>
              <a:t>Customized training improves results and longevity.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Competitive Advantage: </a:t>
            </a:r>
            <a:r>
              <a:rPr lang="en-US" b="0" dirty="0"/>
              <a:t>Data-driven strategies give teams a measurable edge.</a:t>
            </a:r>
            <a:endParaRPr b="0" dirty="0"/>
          </a:p>
        </p:txBody>
      </p: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xfrm>
            <a:off x="8686800" y="6049296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AIM</a:t>
            </a:r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r>
              <a:rPr lang="en-US" sz="2800" dirty="0"/>
              <a:t>Primary Aim</a:t>
            </a:r>
          </a:p>
          <a:p>
            <a:r>
              <a:rPr lang="en-US" sz="2100" b="0" dirty="0"/>
              <a:t>The primary aim of this project is to design and develop an AI-powered</a:t>
            </a:r>
          </a:p>
          <a:p>
            <a:r>
              <a:rPr lang="en-US" sz="2100" b="0" dirty="0"/>
              <a:t>sports analytics platform that enhances athletic performance and</a:t>
            </a:r>
          </a:p>
          <a:p>
            <a:r>
              <a:rPr lang="en-US" sz="2100" b="0" dirty="0"/>
              <a:t>minimizes injury risks through systematic data analysis.</a:t>
            </a:r>
          </a:p>
          <a:p>
            <a:r>
              <a:rPr lang="en-US" sz="2400" dirty="0"/>
              <a:t>Core Focus Areas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Performance Optimization:</a:t>
            </a:r>
            <a:br>
              <a:rPr lang="en-US" dirty="0"/>
            </a:br>
            <a:r>
              <a:rPr lang="en-US" b="0" dirty="0"/>
              <a:t>To analyze athlete performance metrics and provide personalized training recommendations for improved results.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Injury Prevention:</a:t>
            </a:r>
            <a:br>
              <a:rPr lang="en-US" b="0" dirty="0"/>
            </a:br>
            <a:r>
              <a:rPr lang="en-US" b="0" dirty="0"/>
              <a:t>To identify potential injury risks at an early stage using predictive analysis and support effective workload and recovery management.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Data-Driven Insights:</a:t>
            </a:r>
            <a:br>
              <a:rPr lang="en-US" b="0" dirty="0"/>
            </a:br>
            <a:r>
              <a:rPr lang="en-US" b="0" dirty="0"/>
              <a:t>To generate meaningful insights from sports data using analytical models and visual dashboards for better decision-making.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User-Centric Design:</a:t>
            </a:r>
            <a:br>
              <a:rPr lang="en-US" b="0" dirty="0"/>
            </a:br>
            <a:r>
              <a:rPr lang="en-US" b="0" dirty="0"/>
              <a:t>To develop a secure, role-based, and user-friendly system accessible across web and mobile platforms.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134" name="Google Shape;134;p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sldNum" idx="12"/>
          </p:nvPr>
        </p:nvSpPr>
        <p:spPr>
          <a:xfrm>
            <a:off x="8686800" y="5976936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 dirty="0">
                <a:latin typeface="Algerian"/>
                <a:ea typeface="Algerian"/>
                <a:cs typeface="Algerian"/>
                <a:sym typeface="Algerian"/>
              </a:rPr>
              <a:t>APPLICATIONS</a:t>
            </a:r>
            <a:endParaRPr dirty="0"/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indent="0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sports analytics system that helps players, managers, and data analysts improve performance and reduce injury risks through data-driven insights.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Player</a:t>
            </a:r>
            <a:br>
              <a:rPr lang="en-US" dirty="0"/>
            </a:br>
            <a:r>
              <a:rPr lang="en-US" sz="1800" b="0" dirty="0"/>
              <a:t>Enables athletes to track personal performance, monitor health metrics, follow personalized training plans, and receive injury-risk alerts.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Manager</a:t>
            </a:r>
            <a:br>
              <a:rPr lang="en-US" dirty="0"/>
            </a:br>
            <a:r>
              <a:rPr lang="en-US" sz="1800" b="0" dirty="0"/>
              <a:t>Supports team oversight through performance monitoring, workload management, player comparison, and data-driven decision making.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800" b="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Data Analyst</a:t>
            </a:r>
            <a:br>
              <a:rPr lang="en-US" dirty="0"/>
            </a:br>
            <a:r>
              <a:rPr lang="en-US" sz="1800" b="0" dirty="0"/>
              <a:t>Provides tools for analyzing performance data, identifying trends, generating reports, and supporting strategic insights.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143" name="Google Shape;143;p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8686800" y="6049296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609600" y="22860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LITERATURE SURVEY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12"/>
          </p:nvPr>
        </p:nvSpPr>
        <p:spPr>
          <a:xfrm>
            <a:off x="8686800" y="5976936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j-lt"/>
              </a:rPr>
              <a:t>AI and Machine Learning Applications in Sports Performance Analysis”</a:t>
            </a:r>
            <a:endParaRPr sz="2700" dirty="0">
              <a:latin typeface="+mj-lt"/>
            </a:endParaRPr>
          </a:p>
        </p:txBody>
      </p:sp>
      <p:graphicFrame>
        <p:nvGraphicFramePr>
          <p:cNvPr id="158" name="Google Shape;158;p8"/>
          <p:cNvGraphicFramePr/>
          <p:nvPr>
            <p:extLst>
              <p:ext uri="{D42A27DB-BD31-4B8C-83A1-F6EECF244321}">
                <p14:modId xmlns:p14="http://schemas.microsoft.com/office/powerpoint/2010/main" val="1854742472"/>
              </p:ext>
            </p:extLst>
          </p:nvPr>
        </p:nvGraphicFramePr>
        <p:xfrm>
          <a:off x="609600" y="1524319"/>
          <a:ext cx="8153400" cy="426687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Publication and 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Journal of Engineering Research, 2025 [1]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Mutawa, A. M., Kumar, K. V. R., Murugappan, M.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Video sequence analysis using computer vision; </a:t>
                      </a:r>
                      <a:r>
                        <a:rPr lang="en-IN" sz="1800" dirty="0" err="1"/>
                        <a:t>OpenPose</a:t>
                      </a:r>
                      <a:r>
                        <a:rPr lang="en-IN" sz="1800" dirty="0"/>
                        <a:t>-based 3D pose estimation; CNN + ML classifiers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Uses real match data; predicts deceptive movements; improves performance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Offline analysis; single-player study; no real-time live prediction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sldNum" idx="12"/>
          </p:nvPr>
        </p:nvSpPr>
        <p:spPr>
          <a:xfrm>
            <a:off x="8686800" y="6047421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97708" y="0"/>
            <a:ext cx="8948584" cy="198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2: 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j-lt"/>
              </a:rPr>
              <a:t>Wearable Sensor Data Analytics for Athlete Performance and Injury Prevention”</a:t>
            </a:r>
            <a:br>
              <a:rPr lang="en-US" dirty="0"/>
            </a:br>
            <a:endParaRPr dirty="0"/>
          </a:p>
        </p:txBody>
      </p:sp>
      <p:graphicFrame>
        <p:nvGraphicFramePr>
          <p:cNvPr id="167" name="Google Shape;167;p9"/>
          <p:cNvGraphicFramePr/>
          <p:nvPr>
            <p:extLst>
              <p:ext uri="{D42A27DB-BD31-4B8C-83A1-F6EECF244321}">
                <p14:modId xmlns:p14="http://schemas.microsoft.com/office/powerpoint/2010/main" val="493842481"/>
              </p:ext>
            </p:extLst>
          </p:nvPr>
        </p:nvGraphicFramePr>
        <p:xfrm>
          <a:off x="565355" y="1427481"/>
          <a:ext cx="8153400" cy="522402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Publication and 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IEEE Access, 2024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Bilal Hassan, Clare Clough, Yusra Siddiqi, Rao Faizan Ali, Muhammad Asad </a:t>
                      </a:r>
                      <a:r>
                        <a:rPr lang="en-IN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Arshed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Learning-to-Rank (LTR) models using listwise ranking and artificial neural networks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Position-specific player </a:t>
                      </a: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ranking,Impartial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and performance-</a:t>
                      </a: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focused,Over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94% accuracy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training data per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position,Assumes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strike rate and average always determine best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player,Only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considers players with prior data for venue/opponent</a:t>
                      </a:r>
                      <a:endParaRPr sz="2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9"/>
          <p:cNvSpPr txBox="1">
            <a:spLocks noGrp="1"/>
          </p:cNvSpPr>
          <p:nvPr>
            <p:ph type="ftr" idx="11"/>
          </p:nvPr>
        </p:nvSpPr>
        <p:spPr>
          <a:xfrm>
            <a:off x="326308" y="6651506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AI-Driven Sport Platform </a:t>
            </a:r>
            <a:endParaRPr dirty="0"/>
          </a:p>
        </p:txBody>
      </p:sp>
      <p:sp>
        <p:nvSpPr>
          <p:cNvPr id="170" name="Google Shape;170;p9"/>
          <p:cNvSpPr txBox="1">
            <a:spLocks noGrp="1"/>
          </p:cNvSpPr>
          <p:nvPr>
            <p:ph type="sldNum" idx="12"/>
          </p:nvPr>
        </p:nvSpPr>
        <p:spPr>
          <a:xfrm>
            <a:off x="8718755" y="6090483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3: 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j-lt"/>
              </a:rPr>
              <a:t>Predictive Analytics in Sports: Injury Risk Assessment and Performance Optimization”</a:t>
            </a:r>
            <a:endParaRPr sz="2700" dirty="0">
              <a:latin typeface="+mj-lt"/>
            </a:endParaRPr>
          </a:p>
        </p:txBody>
      </p:sp>
      <p:graphicFrame>
        <p:nvGraphicFramePr>
          <p:cNvPr id="176" name="Google Shape;176;p10"/>
          <p:cNvGraphicFramePr/>
          <p:nvPr>
            <p:extLst>
              <p:ext uri="{D42A27DB-BD31-4B8C-83A1-F6EECF244321}">
                <p14:modId xmlns:p14="http://schemas.microsoft.com/office/powerpoint/2010/main" val="1281312754"/>
              </p:ext>
            </p:extLst>
          </p:nvPr>
        </p:nvGraphicFramePr>
        <p:xfrm>
          <a:off x="609600" y="1524319"/>
          <a:ext cx="8150942" cy="4542184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45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Publication and 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6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Journal of Sports Analytics, 2024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Yash Agrawal, Kundan </a:t>
                      </a:r>
                      <a:r>
                        <a:rPr lang="en-IN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Kandhway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Supervised ML classification using dynamic and static features; SHAP-based explainable AI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In-play prediction at every over,85% </a:t>
                      </a: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accuracy,SHAP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reveals feature importance shift during match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Only ODI </a:t>
                      </a: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format,Requires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ball-by-ball </a:t>
                      </a:r>
                      <a:r>
                        <a:rPr lang="en-US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data,Limited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to matches with complete innings</a:t>
                      </a: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8" name="Google Shape;178;p1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8534400" y="6047421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title"/>
          </p:nvPr>
        </p:nvSpPr>
        <p:spPr>
          <a:xfrm>
            <a:off x="152400" y="220669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4: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700" dirty="0">
                <a:latin typeface="+mj-lt"/>
              </a:rPr>
              <a:t>“Biomechanics of the Bowling Delivery in Cricket: A Critical Analysis”</a:t>
            </a:r>
            <a:endParaRPr dirty="0">
              <a:latin typeface="+mj-lt"/>
            </a:endParaRPr>
          </a:p>
        </p:txBody>
      </p:sp>
      <p:graphicFrame>
        <p:nvGraphicFramePr>
          <p:cNvPr id="185" name="Google Shape;185;p11"/>
          <p:cNvGraphicFramePr/>
          <p:nvPr>
            <p:extLst>
              <p:ext uri="{D42A27DB-BD31-4B8C-83A1-F6EECF244321}">
                <p14:modId xmlns:p14="http://schemas.microsoft.com/office/powerpoint/2010/main" val="1700869781"/>
              </p:ext>
            </p:extLst>
          </p:nvPr>
        </p:nvGraphicFramePr>
        <p:xfrm>
          <a:off x="495300" y="1684656"/>
          <a:ext cx="8153400" cy="426687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IJNRD, 2023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Abhijit Thander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Biomechanical analysis of bowling delivery in cricket; kinematic and kinetic breakdown; phase-wise technique classification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Deep dive into bowling phases; injury risk insights; technique-specific recommendations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Lab-based studies; lacks real-time data; limited individual variation analysis</a:t>
                      </a: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7" name="Google Shape;187;p1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sldNum" idx="12"/>
          </p:nvPr>
        </p:nvSpPr>
        <p:spPr>
          <a:xfrm>
            <a:off x="8549148" y="5951531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76200" y="152718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Arimo"/>
                <a:ea typeface="Arimo"/>
                <a:cs typeface="Arimo"/>
                <a:sym typeface="Arimo"/>
              </a:rPr>
              <a:t>PAPER 5:</a:t>
            </a:r>
            <a:br>
              <a:rPr lang="en-US" dirty="0">
                <a:latin typeface="Arimo"/>
                <a:ea typeface="Arimo"/>
                <a:cs typeface="Arimo"/>
                <a:sym typeface="Arimo"/>
              </a:rPr>
            </a:br>
            <a:r>
              <a:rPr lang="en-US" sz="2700" dirty="0">
                <a:latin typeface="Armio"/>
                <a:ea typeface="Arimo"/>
                <a:cs typeface="Arimo"/>
                <a:sym typeface="Arimo"/>
              </a:rPr>
              <a:t> “</a:t>
            </a:r>
            <a:r>
              <a:rPr lang="en-US" sz="2700" dirty="0">
                <a:latin typeface="Armio"/>
              </a:rPr>
              <a:t>Data Science in Sports Analytics: A Review of Performance Optimization and Fan Engagement”</a:t>
            </a:r>
            <a:endParaRPr sz="2700" dirty="0">
              <a:latin typeface="Armio"/>
            </a:endParaRPr>
          </a:p>
        </p:txBody>
      </p:sp>
      <p:graphicFrame>
        <p:nvGraphicFramePr>
          <p:cNvPr id="194" name="Google Shape;194;p12"/>
          <p:cNvGraphicFramePr/>
          <p:nvPr>
            <p:extLst>
              <p:ext uri="{D42A27DB-BD31-4B8C-83A1-F6EECF244321}">
                <p14:modId xmlns:p14="http://schemas.microsoft.com/office/powerpoint/2010/main" val="1075816025"/>
              </p:ext>
            </p:extLst>
          </p:nvPr>
        </p:nvGraphicFramePr>
        <p:xfrm>
          <a:off x="609600" y="1524319"/>
          <a:ext cx="8153400" cy="4817487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87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Author name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Approach (Methodology)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+mj-lt"/>
                        </a:rPr>
                        <a:t>Advantages</a:t>
                      </a:r>
                      <a:endParaRPr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WJARR, 2024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Ogugua</a:t>
                      </a: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C. Obi et al.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 science in sports analytics; ML for performance optimization and fan engagement; wearable sensor integration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Arial"/>
                          <a:cs typeface="Arial"/>
                          <a:sym typeface="Arial"/>
                        </a:rPr>
                        <a:t>Covers both athlete and fan analytics; personalized training and injury prevention; real-time biomechanical feedback</a:t>
                      </a:r>
                      <a:endParaRPr sz="2400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Generalized across sports; lacks cricket-specific models; ethical/data bias concerns</a:t>
                      </a: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" name="Google Shape;196;p12"/>
          <p:cNvSpPr txBox="1">
            <a:spLocks noGrp="1"/>
          </p:cNvSpPr>
          <p:nvPr>
            <p:ph type="ftr" idx="11"/>
          </p:nvPr>
        </p:nvSpPr>
        <p:spPr>
          <a:xfrm>
            <a:off x="378541" y="657415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 dirty="0"/>
          </a:p>
        </p:txBody>
      </p:sp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4582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6: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 “</a:t>
            </a:r>
            <a:r>
              <a:rPr lang="en-US" sz="2700" dirty="0">
                <a:latin typeface="+mj-lt"/>
              </a:rPr>
              <a:t>Methodology and Evaluation in Sports Analytics: Challenges, Approaches, and Lessons Learned”</a:t>
            </a:r>
            <a:endParaRPr dirty="0">
              <a:latin typeface="+mj-lt"/>
            </a:endParaRPr>
          </a:p>
        </p:txBody>
      </p:sp>
      <p:graphicFrame>
        <p:nvGraphicFramePr>
          <p:cNvPr id="203" name="Google Shape;203;p13"/>
          <p:cNvGraphicFramePr/>
          <p:nvPr>
            <p:extLst>
              <p:ext uri="{D42A27DB-BD31-4B8C-83A1-F6EECF244321}">
                <p14:modId xmlns:p14="http://schemas.microsoft.com/office/powerpoint/2010/main" val="1044106441"/>
              </p:ext>
            </p:extLst>
          </p:nvPr>
        </p:nvGraphicFramePr>
        <p:xfrm>
          <a:off x="533400" y="1522441"/>
          <a:ext cx="8153400" cy="5110679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3114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Machine Learning,2024</a:t>
                      </a:r>
                      <a:endParaRPr lang="en-IN"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Jesse Davis, Lotte Bransen, Laurens Devos, Arne Jaspers, Wannes Meert, Pieter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Robberechts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Jan Van Haaren, Maaike Van Roy</a:t>
                      </a:r>
                      <a:endParaRPr lang="en-IN"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Methodology and evaluation in sports analytics; ML-based indicators (e.g.,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xG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); frameworks for player recruitment, match preparation, and health management</a:t>
                      </a:r>
                      <a:endParaRPr lang="en-IN"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structured framework; bridges sports science and ML; practical examples; indicator reliability; interdisciplinary collaboration</a:t>
                      </a:r>
                      <a:endParaRPr lang="en-IN"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Lack of ground truth; noisy/biased data; small sample sizes; evaluation complexity; non-stationary data</a:t>
                      </a:r>
                      <a:endParaRPr lang="en-IN"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/>
          <p:cNvSpPr txBox="1">
            <a:spLocks noGrp="1"/>
          </p:cNvSpPr>
          <p:nvPr>
            <p:ph type="ftr" idx="11"/>
          </p:nvPr>
        </p:nvSpPr>
        <p:spPr>
          <a:xfrm>
            <a:off x="457200" y="6596297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 dirty="0"/>
          </a:p>
        </p:txBody>
      </p:sp>
      <p:sp>
        <p:nvSpPr>
          <p:cNvPr id="206" name="Google Shape;206;p13"/>
          <p:cNvSpPr txBox="1">
            <a:spLocks noGrp="1"/>
          </p:cNvSpPr>
          <p:nvPr>
            <p:ph type="sldNum" idx="12"/>
          </p:nvPr>
        </p:nvSpPr>
        <p:spPr>
          <a:xfrm>
            <a:off x="8534400" y="6027437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B9B425C4-F1B0-794C-DFFA-B8B34F07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BC081815-C546-D478-70D9-1A9734F3C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7: 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An AI-Driven Approach to Real-Time Sports Analytics and Performance Evaluation”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4D56331C-FAE1-485F-7D2C-1DA43E5EF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3810225"/>
              </p:ext>
            </p:extLst>
          </p:nvPr>
        </p:nvGraphicFramePr>
        <p:xfrm>
          <a:off x="609600" y="1524319"/>
          <a:ext cx="8153400" cy="4452617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391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43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2024, IEEE ICSES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J. Mohana, </a:t>
                      </a:r>
                      <a:r>
                        <a:rPr lang="en-IN" sz="1600" dirty="0" err="1">
                          <a:effectLst/>
                        </a:rPr>
                        <a:t>Bharthvajan</a:t>
                      </a:r>
                      <a:r>
                        <a:rPr lang="en-IN" sz="1600" dirty="0">
                          <a:effectLst/>
                        </a:rPr>
                        <a:t> R, M. Murugesan, Habeeb Omotunde, D. Balaji, A. Santhi Mary Antony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AI-driven sports analytics using CNNs, RNNs, and NLP (BERT); real-time data processing via Apache Spark; integration of structured and unstructured data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85% prediction accuracy, 80% faster analysis, real-time insights, handles 10,000 records/hour, customizable 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High dependency on cloud infrastructure, complex model training, limited generalization across sports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BC746912-1607-46A0-F4E7-6BA517AE170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9682B65F-E052-E3AB-DBDB-CE8621937E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976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F9D1B076-386C-FDB0-270F-E32FAFF4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9F19A555-BE24-90BA-159C-C3619877A8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8: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“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Role of Artificial Intelligence in Sports Analytics: A Systematic Review and Meta-Analysis of Performance “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253DCA6C-6129-D0E2-9DBF-4262E4A558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5166"/>
              </p:ext>
            </p:extLst>
          </p:nvPr>
        </p:nvGraphicFramePr>
        <p:xfrm>
          <a:off x="495300" y="1507267"/>
          <a:ext cx="8153400" cy="426687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Publication and Year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Author name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Approach (Methodology) 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Advantages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Limitations</a:t>
                      </a: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MDPI Applied Sciences, 2025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Przemysław Pietraszewski, Artur </a:t>
                      </a:r>
                      <a:r>
                        <a:rPr lang="en-IN" sz="1600" dirty="0" err="1">
                          <a:effectLst/>
                        </a:rPr>
                        <a:t>Terbalyan</a:t>
                      </a:r>
                      <a:r>
                        <a:rPr lang="en-IN" sz="1600" dirty="0">
                          <a:effectLst/>
                        </a:rPr>
                        <a:t>, Robert </a:t>
                      </a:r>
                      <a:r>
                        <a:rPr lang="en-IN" sz="1600" dirty="0" err="1">
                          <a:effectLst/>
                        </a:rPr>
                        <a:t>Roczniok</a:t>
                      </a:r>
                      <a:r>
                        <a:rPr lang="en-IN" sz="1600" dirty="0">
                          <a:effectLst/>
                        </a:rPr>
                        <a:t>, Adam </a:t>
                      </a:r>
                      <a:r>
                        <a:rPr lang="en-IN" sz="1600" dirty="0" err="1">
                          <a:effectLst/>
                        </a:rPr>
                        <a:t>Maszczyk</a:t>
                      </a:r>
                      <a:r>
                        <a:rPr lang="en-IN" sz="1600" dirty="0">
                          <a:effectLst/>
                        </a:rPr>
                        <a:t>, Kajetan </a:t>
                      </a:r>
                      <a:r>
                        <a:rPr lang="en-IN" sz="1600" dirty="0" err="1">
                          <a:effectLst/>
                        </a:rPr>
                        <a:t>Ornowski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Systematic review and meta-analysis of 16 studies using CNNs, LSTMs, RL, and computer vision across 13 sports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Pooled accuracy of 87.78%, broad sport coverage, highlights AI’s role in tactical decisions and injury prevention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High heterogeneity (I² = 93.75%), limited generalizability from lab to real-world, lack of standardization in evaluation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E7D59317-5E6C-B49D-86B5-D1EC1C331F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F17B3053-6D04-8873-2006-B0ED6234CC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903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07060739-769E-2D30-7921-8ED27E06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0EEF6182-BD2D-22C2-8B1B-73D557FE2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9: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 “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Intelligence-Powered Sports Analytics: Enhancing Performance Through Data Science”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5AF73B09-7B1E-8B75-91DC-1F35AF6922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72071"/>
              </p:ext>
            </p:extLst>
          </p:nvPr>
        </p:nvGraphicFramePr>
        <p:xfrm>
          <a:off x="609600" y="1524319"/>
          <a:ext cx="8153400" cy="473634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IEEE ICCIES, 2025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 err="1"/>
                        <a:t>Saef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Wbaid</a:t>
                      </a:r>
                      <a:r>
                        <a:rPr lang="en-IN" sz="1600" dirty="0"/>
                        <a:t>, Azizov </a:t>
                      </a:r>
                      <a:r>
                        <a:rPr lang="en-IN" sz="1600" dirty="0" err="1"/>
                        <a:t>Marufkhuja</a:t>
                      </a:r>
                      <a:r>
                        <a:rPr lang="en-IN" sz="1600" dirty="0"/>
                        <a:t>, Md Afzal, Hilola </a:t>
                      </a:r>
                      <a:r>
                        <a:rPr lang="en-IN" sz="1600" dirty="0" err="1"/>
                        <a:t>Pulatova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ML-PA-IP framework combining motion capture, biometric monitoring, and predictive analytics for injury prevention and performance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95.6% performance assessment accuracy, 97.6% injury prediction accuracy, real-time feedback and training optimization, 3D visualization and simulation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Requires high-quality biometric data, complex integration of wearable tech, limited validation across sports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3C0DDA1B-2294-8F20-355D-B34D2ECDED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9A54C4E8-9183-F980-AE26-B1342FBD10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354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7783707C-0C0E-4FC3-8B20-152011DA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02034AFA-40CB-8D23-35A7-BCC7477D6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10: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 “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Orientation and Decision-Making for Soccer Based on Sports Analytics and AI: A Systematic Review</a:t>
            </a:r>
            <a:r>
              <a:rPr lang="en-US" dirty="0">
                <a:latin typeface="+mj-lt"/>
                <a:ea typeface="Arimo"/>
                <a:cs typeface="Arimo"/>
                <a:sym typeface="Arimo"/>
              </a:rPr>
              <a:t>”</a:t>
            </a:r>
            <a:endParaRPr dirty="0">
              <a:latin typeface="+mj-lt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394D2770-2758-F0B6-0811-75FF1CE35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6637083"/>
              </p:ext>
            </p:extLst>
          </p:nvPr>
        </p:nvGraphicFramePr>
        <p:xfrm>
          <a:off x="609600" y="1524319"/>
          <a:ext cx="8153400" cy="4335707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987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9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IEEE/CAA Journal of </a:t>
                      </a:r>
                      <a:r>
                        <a:rPr lang="en-US" sz="1600" dirty="0" err="1">
                          <a:effectLst/>
                        </a:rPr>
                        <a:t>Automatica</a:t>
                      </a:r>
                      <a:r>
                        <a:rPr lang="en-US" sz="1600" dirty="0">
                          <a:effectLst/>
                        </a:rPr>
                        <a:t> Sinica, 2024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Zhiqiang Pu, Yi Pan, Shijie Wang, </a:t>
                      </a:r>
                      <a:r>
                        <a:rPr lang="en-IN" sz="1600" dirty="0" err="1">
                          <a:effectLst/>
                        </a:rPr>
                        <a:t>Boyin</a:t>
                      </a:r>
                      <a:r>
                        <a:rPr lang="en-IN" sz="1600" dirty="0">
                          <a:effectLst/>
                        </a:rPr>
                        <a:t> Liu, Min Chen, Hao Ma, </a:t>
                      </a:r>
                      <a:r>
                        <a:rPr lang="en-IN" sz="1600" dirty="0" err="1">
                          <a:effectLst/>
                        </a:rPr>
                        <a:t>Yixiong</a:t>
                      </a:r>
                      <a:r>
                        <a:rPr lang="en-IN" sz="1600" dirty="0">
                          <a:effectLst/>
                        </a:rPr>
                        <a:t> Cui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Systematic review of soccer analytics using OODA loop; covers real-world and virtual domains; includes GRF, RL, CV, and NLP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Bridges real and virtual soccer analytics, highlights DRL and simulation platforms, proposes OODA loop for decision modeling</a:t>
                      </a:r>
                      <a:endParaRPr sz="16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Limited real-world deployment of virtual strategies, sparse reward modeling challenges, interpretability and ethical concerns</a:t>
                      </a:r>
                      <a:endParaRPr sz="16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D1841929-C624-B4AB-B653-F9A31A1DC6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2D8AB1CA-04EA-4E02-3141-196B982737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129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18878029-15D7-76D1-6C6F-689DDCFA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E44F5324-ECA4-E6DC-899B-0138B41B6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11: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“</a:t>
            </a:r>
            <a:r>
              <a:rPr lang="en-US" sz="2700" dirty="0">
                <a:latin typeface="+mn-lt"/>
              </a:rPr>
              <a:t>AI-Driven Decision Support Systems for Injury Prediction and Performance Monitoring in Sports</a:t>
            </a:r>
            <a:r>
              <a:rPr lang="en-US" sz="2700" dirty="0">
                <a:latin typeface="+mn-lt"/>
                <a:ea typeface="Arimo"/>
                <a:cs typeface="Arial" panose="020B0604020202020204" pitchFamily="34" charset="0"/>
                <a:sym typeface="Arimo"/>
              </a:rPr>
              <a:t>” </a:t>
            </a: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A1A81F68-B7E5-09EE-3DBF-983B77C070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417349"/>
              </p:ext>
            </p:extLst>
          </p:nvPr>
        </p:nvGraphicFramePr>
        <p:xfrm>
          <a:off x="495300" y="1544302"/>
          <a:ext cx="8153400" cy="473634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Limitations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International Journal of Research and Technology (IJRT), Volume 13, Issue 1, February 2025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Dr. Sumit Jain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Support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System,Multimodal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data collection using wearable sensors, video analytics, and medical records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High prediction accuracy (up to 93.8%),Early injury detection and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prevention,Real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-time player performance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monitoring,Personalized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training and rehabilitation plans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High data requirements, implementation cost, computational complexity, and player data privacy concerns.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03B12D9A-9397-D922-83C4-586C879EE7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482F647B-2C5C-67AF-434C-EA5CD2F78B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7544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4EE15BE2-FD95-6CB6-F752-C52C2666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9795A355-6C74-A5E4-464E-D7811857C8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12:</a:t>
            </a:r>
            <a:br>
              <a:rPr lang="en-US" sz="3200" dirty="0">
                <a:ea typeface="Arimo"/>
                <a:cs typeface="Arimo"/>
                <a:sym typeface="Arimo"/>
              </a:rPr>
            </a:br>
            <a:r>
              <a:rPr lang="en-US" sz="27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Artificial Intelligence Applications in Sports Biomechanics: A Scoping Review of Wearables and Motion Analysis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AA74667F-3FE7-9FC4-15C0-BC5F55964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531677"/>
              </p:ext>
            </p:extLst>
          </p:nvPr>
        </p:nvGraphicFramePr>
        <p:xfrm>
          <a:off x="685800" y="1599928"/>
          <a:ext cx="8153400" cy="4673124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79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Bioengineering (MDPI), 2024.</a:t>
                      </a:r>
                      <a:endParaRPr sz="18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Marouen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Souaifi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Wissem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Dhahbi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Nidhal Jebabli, Halil İbrahim Ceylan, Manar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Boujabli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Raul Ioan Muntean, and Ismail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Dergaa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8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A PRISMA-</a:t>
                      </a:r>
                      <a:r>
                        <a:rPr lang="en-US" sz="1600" dirty="0" err="1"/>
                        <a:t>ScR</a:t>
                      </a:r>
                      <a:r>
                        <a:rPr lang="en-US" sz="1600" dirty="0"/>
                        <a:t>–based scoping review examining artificial intelligence applications in sports biomechanics, with emphasis on wearable technologies and motion analysis for performance and injury assessment</a:t>
                      </a:r>
                      <a:r>
                        <a:rPr lang="en-US" sz="1800" dirty="0"/>
                        <a:t>.</a:t>
                      </a:r>
                      <a:endParaRPr sz="18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High-precision motion analysis with real-time feedback for technique improvement, enhanced injury risk prediction, and flexible in-field monitoring enabled by wearable technology.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High cost, advanced AI systems, wearable sensors, small sample sizes, limited generalizability, technical complexity, specialized expertise required.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FB14D4EF-C1BB-8D16-A422-527456A902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20D27ADD-B4EA-9116-A88A-D8A646D956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1775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D6243C4A-E4A1-80CF-7041-3E078530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C7777704-248C-D54A-E71B-7FE188FBE3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615154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13: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7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The Role of Artificial Intelligence in Sports Performance Analysis, Injury Prevention, and Talent Identification: A Systematic Review</a:t>
            </a:r>
            <a:r>
              <a:rPr lang="en-US" sz="27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40C185E5-C169-632B-EC2D-2C659BB5C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074370"/>
              </p:ext>
            </p:extLst>
          </p:nvPr>
        </p:nvGraphicFramePr>
        <p:xfrm>
          <a:off x="457200" y="1710062"/>
          <a:ext cx="8229600" cy="4796611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4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8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14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0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Geopolitical, Social Security and Freedom Journal, Volume 7, Issue 1, 2024</a:t>
                      </a:r>
                      <a:endParaRPr sz="18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Andrea Pisaniello, University of Cassino and Southern Lazio</a:t>
                      </a:r>
                      <a:endParaRPr sz="18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Systematic review of peer-reviewed studies (2010–2023) from PubMed, IEEE Xplore, Google Scholar, and Scopus, focusing on AI-based performance analysis, injury prevention, and talent identification.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Injury prevention through biomechanical pattern analysis, AI-driven talent identification, and objective player evaluation beyond traditional scouting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Interpretability issues (“black-box” models), ethical and privacy risks in biometric data collection, and algorithmic bias affecting fair talent evaluation.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3E38F61B-EF1B-E554-CCC7-B396C4B38FE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F2BD1BC8-DBCE-B176-C369-9206E795BF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8931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3E9533B2-11AD-C2A8-FB57-CC348F30D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C54886D1-9E30-F3DE-6E5A-DED64E033A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61023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algn="ctr">
              <a:buSzPts val="3600"/>
            </a:pP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14: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7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Real-Time Match-Fixing Detection in Football Using Multimodal Machine Learning Models”</a:t>
            </a:r>
            <a:br>
              <a:rPr lang="en-US" sz="2700" dirty="0">
                <a:latin typeface="+mn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3F6E2B2B-ADEE-2A9A-2CFE-AA9DF586E9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4722264"/>
              </p:ext>
            </p:extLst>
          </p:nvPr>
        </p:nvGraphicFramePr>
        <p:xfrm>
          <a:off x="495300" y="1544302"/>
          <a:ext cx="8153400" cy="498018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Scientific Reports (Nature Portfolio), 2024.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Changgyun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Kim, Jae-Hyeon Park, and Ji-Yong Lee.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Real-time match-fixing detection system using football league betting odds data, employing a multimodal AI ensemble (SVM, Random Forest, Logistic Regression, and KNN) with time-series analysis.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High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Accuracy,Real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-Time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Monitoring,Nuanced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Classification,Robust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Data Integration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Imbalance,Complexity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of Betting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Markets,Static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Data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Exclusion,Narrow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Geographic Scope for </a:t>
                      </a:r>
                      <a:r>
                        <a:rPr lang="en-US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Training,Narrow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Geographic Scope for Training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62C8F403-92B4-AE02-F6CF-3EA413D429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F7E32EB2-6B11-5F2B-9DF7-25815ABF8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007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3C0ADFD5-2A80-7C8E-14F3-208729F4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C4231464-E907-D9F0-B12F-B1CF0908CB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dirty="0">
                <a:latin typeface="+mj-lt"/>
                <a:ea typeface="Arimo"/>
                <a:cs typeface="Arimo"/>
                <a:sym typeface="Arimo"/>
              </a:rPr>
              <a:t>PAPER 15: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Real-Time Possessing Relationship Detection for Sports”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3B753019-C32C-4265-AD78-B78B804D72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5734255"/>
              </p:ext>
            </p:extLst>
          </p:nvPr>
        </p:nvGraphicFramePr>
        <p:xfrm>
          <a:off x="495300" y="1544302"/>
          <a:ext cx="8153400" cy="498018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Chinese Control Conference, 2020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 err="1">
                          <a:effectLst/>
                        </a:rPr>
                        <a:t>Yinda</a:t>
                      </a:r>
                      <a:r>
                        <a:rPr lang="en-IN" sz="1600" dirty="0">
                          <a:effectLst/>
                        </a:rPr>
                        <a:t> Xu, </a:t>
                      </a:r>
                      <a:r>
                        <a:rPr lang="en-IN" sz="1600" dirty="0" err="1">
                          <a:effectLst/>
                        </a:rPr>
                        <a:t>Yonggang</a:t>
                      </a:r>
                      <a:r>
                        <a:rPr lang="en-IN" sz="1600" dirty="0">
                          <a:effectLst/>
                        </a:rPr>
                        <a:t> Peng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Algorithm framework combining visual object tracking (</a:t>
                      </a:r>
                      <a:r>
                        <a:rPr lang="en-IN" sz="1600" dirty="0" err="1">
                          <a:effectLst/>
                        </a:rPr>
                        <a:t>SiamFC</a:t>
                      </a:r>
                      <a:r>
                        <a:rPr lang="en-IN" sz="1600" dirty="0">
                          <a:effectLst/>
                        </a:rPr>
                        <a:t>++), human pose estimation (</a:t>
                      </a:r>
                      <a:r>
                        <a:rPr lang="en-IN" sz="1600" dirty="0" err="1">
                          <a:effectLst/>
                        </a:rPr>
                        <a:t>CenterNet</a:t>
                      </a:r>
                      <a:r>
                        <a:rPr lang="en-IN" sz="1600" dirty="0">
                          <a:effectLst/>
                        </a:rPr>
                        <a:t>), </a:t>
                      </a:r>
                      <a:r>
                        <a:rPr lang="en-IN" sz="1600" dirty="0" err="1">
                          <a:effectLst/>
                        </a:rPr>
                        <a:t>IoU</a:t>
                      </a:r>
                      <a:r>
                        <a:rPr lang="en-IN" sz="1600" dirty="0">
                          <a:effectLst/>
                        </a:rPr>
                        <a:t> tracking, and heuristic relationship reasoning for detecting possession in sports videos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Real-time performance (20+ FPS), effective possession detection (hand/foot), robust tracking with diverse training data, validated on public video datasets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Pose continuity issues, simple </a:t>
                      </a:r>
                      <a:r>
                        <a:rPr lang="en-US" sz="1600" dirty="0" err="1">
                          <a:effectLst/>
                        </a:rPr>
                        <a:t>IoU</a:t>
                      </a:r>
                      <a:r>
                        <a:rPr lang="en-US" sz="1600" dirty="0">
                          <a:effectLst/>
                        </a:rPr>
                        <a:t> tracker limits robustness, reasoning restricted to two relationships, challenges with fast motion and occlusion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4732FE5C-8450-B9E7-55F4-884ED6DD1A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A973A641-F5BD-E41D-F59D-F66A68DCC8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740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A7278661-39D5-77AB-8A4A-964CF889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8A773A2F-98E4-A219-F460-80D0E37DF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16: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400" dirty="0">
                <a:latin typeface="+mn-lt"/>
              </a:rPr>
              <a:t>Scalable Infrastructure for Efficient Real-Time Sports Analytics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EE3E29F1-825A-17DB-1C12-4CC1854353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9626569"/>
              </p:ext>
            </p:extLst>
          </p:nvPr>
        </p:nvGraphicFramePr>
        <p:xfrm>
          <a:off x="495300" y="1544302"/>
          <a:ext cx="8153400" cy="473634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ACM ICMI Companion, 2020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Håvard D. Johansen, Dag Johansen, Tomas Kupka, Michael A. Riegler, Pål Halvorsen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PMSys</a:t>
                      </a:r>
                      <a:r>
                        <a:rPr lang="en-US" sz="1600" dirty="0">
                          <a:effectLst/>
                        </a:rPr>
                        <a:t> smartphone-based athlete monitoring system; cloud microservices; AI prediction using LSTM for readiness and wellness data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Real-time athlete monitoring, scalable cloud infrastructure, privacy-preserving data collection, promising AI predictions, widely adopted in elite teams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Limited dataset size, subjective self-report variability, high development/maintenance overhead for apps, dependency on cloud services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9A28841E-F70D-F551-468F-240534ADCDF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01F78826-52A1-28A1-D37B-8A93241EDB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1847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35C121A4-F745-D151-E509-BE5EC62F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E4031912-9D7E-AEB3-F5DF-44F3FFBDC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61023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17: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Analysis of Cricket Ball Type and Innings on State Level Cricket Batter's Performance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A8FA8E40-76BE-82A1-AC62-174EF9243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396963"/>
              </p:ext>
            </p:extLst>
          </p:nvPr>
        </p:nvGraphicFramePr>
        <p:xfrm>
          <a:off x="495300" y="1544303"/>
          <a:ext cx="8153400" cy="4852658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474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28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Frontiers in Psychology, 2019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Jonathan Douglas Connor, Wade H. Sinclair, Anthony S. Leicht, Kenji Doma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Statistical analysis of batting performance across 60 Sheffield Shield games; comparison of Kookaburra™ vs. Duke™ balls; first vs. second innings performance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First innings showed higher runs, balls faced, boundaries, and centuries; ball type had no significant effect; pace bowlers more effective with Duke™, spin bowlers with Kookaburra™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Decline in batting performance during second innings, order effect in ball usage across seasons, limited mechanistic data on pitch deterioration, small sample constraints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C77A75C6-4D13-E3A9-B935-24BE909172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9FD90DD6-EE39-5832-903C-9052524E12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726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49D2D8FA-3AEB-1DEC-8259-7D2E38F8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6D531E1B-C448-D0B2-2454-F94C53897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172702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18: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Data Analytics in the Game of Cricket: A Novel Paradigm”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95ECFEAC-C439-8B88-9D42-45C34F59E0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6194768"/>
              </p:ext>
            </p:extLst>
          </p:nvPr>
        </p:nvGraphicFramePr>
        <p:xfrm>
          <a:off x="495300" y="1544302"/>
          <a:ext cx="8153400" cy="4736345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Procedia Computer Science, 2022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Varad </a:t>
                      </a:r>
                      <a:r>
                        <a:rPr lang="en-IN" sz="1600" dirty="0" err="1">
                          <a:effectLst/>
                        </a:rPr>
                        <a:t>Vishwarupe</a:t>
                      </a:r>
                      <a:r>
                        <a:rPr lang="en-IN" sz="1600" dirty="0">
                          <a:effectLst/>
                        </a:rPr>
                        <a:t>, Mangesh Bedekar, Prachi M. Joshi, Milind Pande, Vishal Pawar, Prathamesh </a:t>
                      </a:r>
                      <a:r>
                        <a:rPr lang="en-IN" sz="1600" dirty="0" err="1">
                          <a:effectLst/>
                        </a:rPr>
                        <a:t>Shingote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IoT-based cricket bat sensors (Stance Beam) used to capture bat speed, angles, timing index; case study with real-life net session; categorization of shots into timing index classes (Early, Late, Timed, Missed, Well-Left)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Real-time shot analysis, timing index integration, IoT-enabled data capture, actionable training insights, improved batting mechanics understanding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Small sample size, short session duration, device normalization issues, follow-through metric less reliable, preliminary validation required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DF7930C8-871D-9CB2-D481-3E83BA5175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326CB32F-B708-C113-724F-2317C0EBDD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2338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17CA7E-173A-6898-121A-53670DF1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F00E6279-EFB7-DCD7-3A1F-32D54B42F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361023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19: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Applications of Machine Learning in Cricket: A Systematic Review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4C812731-940D-F2CC-2775-3F9B9D16E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0789859"/>
              </p:ext>
            </p:extLst>
          </p:nvPr>
        </p:nvGraphicFramePr>
        <p:xfrm>
          <a:off x="533400" y="1268853"/>
          <a:ext cx="8153400" cy="5181050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3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76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Machine Learning with Applications, 2022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Indika Wickramasinghe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Systematic review of 59 publications (2001–2021) applying ML in cricket; PRISMA protocol; analysis of research areas including outcome prediction, player classification, batting/bowling style, umpire decisions, pitch behavior, and score prediction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Overview of ML in cricket, key research areas identified, growth since 2010 noted, techniques like Random Forest, Decision Trees, </a:t>
                      </a:r>
                      <a:r>
                        <a:rPr lang="en-US" sz="1600" dirty="0" err="1"/>
                        <a:t>kNN</a:t>
                      </a:r>
                      <a:r>
                        <a:rPr lang="en-US" sz="1600" dirty="0"/>
                        <a:t>, Naïve Bayes, and regression applied, future directions outlined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Data heterogeneity across formats, limited datasets in some studies, inconsistent feature extraction, variable accuracy reporting, lack of standardized evaluation frameworks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B8C76FD5-AD8B-9303-5E8E-789FC683F8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88FCF57E-04B3-4AE5-2156-914BC1D918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5267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B3211206-5E3B-6797-8C4A-870DB650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9B7EC4A5-71A6-21EC-5459-FF0F0B0BC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058" y="361023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20: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Deep Learning in Cricket: A Comprehensive Survey of Shot Detection and Performance Analysis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D383EA22-312D-7796-4C14-BC32A59E2D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618804"/>
              </p:ext>
            </p:extLst>
          </p:nvPr>
        </p:nvGraphicFramePr>
        <p:xfrm>
          <a:off x="495300" y="1371886"/>
          <a:ext cx="8153400" cy="4965787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28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7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IRJAEH, 2024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Milind Mahajan, Shreekar Kulkarni, Mitesh Kulkarni, Abhishek </a:t>
                      </a:r>
                      <a:r>
                        <a:rPr lang="en-IN" sz="1600" dirty="0" err="1">
                          <a:effectLst/>
                        </a:rPr>
                        <a:t>Sabale</a:t>
                      </a:r>
                      <a:r>
                        <a:rPr lang="en-IN" sz="1600" dirty="0">
                          <a:effectLst/>
                        </a:rPr>
                        <a:t>, Aakanksha Thaka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Systematic survey of 10 papers on cricket shot detection and performance analysis; methods include CNNs, LSTMs, transfer learning, multimodal fusion (video, audio, image); evaluation with accuracy, precision, recall, F1-score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Review of deep learning in cricket, CNN/LSTM effectiveness, multimodal integration, high shot detection accuracy, potential for automatic commentary and performance evaluation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Dataset scarcity, limited generalization across formats, reliance on handcrafted preprocessing, varying input modalities, need for real-time implementation and broader validation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C825728E-14F2-463A-5741-BC3F818419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F28CC7B6-A895-2560-85B8-D7D50A261F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78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05110847-A54F-B6FD-F15A-7D366D60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E9EBF6B0-A5C0-619E-3251-FFDC07128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058" y="361023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20: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Deep Learning in Cricket: A Comprehensive Survey of Shot Detection and Performance Analysis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CEEE1450-1D62-53F5-BFDB-3EBB90E0E111}"/>
              </a:ext>
            </a:extLst>
          </p:cNvPr>
          <p:cNvGraphicFramePr/>
          <p:nvPr/>
        </p:nvGraphicFramePr>
        <p:xfrm>
          <a:off x="495300" y="1371886"/>
          <a:ext cx="8153400" cy="4965787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28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7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IRJAEH, 2024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Milind Mahajan, Shreekar Kulkarni, Mitesh Kulkarni, Abhishek </a:t>
                      </a:r>
                      <a:r>
                        <a:rPr lang="en-IN" sz="1600" dirty="0" err="1">
                          <a:effectLst/>
                        </a:rPr>
                        <a:t>Sabale</a:t>
                      </a:r>
                      <a:r>
                        <a:rPr lang="en-IN" sz="1600" dirty="0">
                          <a:effectLst/>
                        </a:rPr>
                        <a:t>, Aakanksha Thaka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Systematic survey of 10 papers on cricket shot detection and performance analysis; methods include CNNs, LSTMs, transfer learning, multimodal fusion (video, audio, image); evaluation with accuracy, precision, recall, F1-score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Review of deep learning in cricket, CNN/LSTM effectiveness, multimodal integration, high shot detection accuracy, potential for automatic commentary and performance evaluation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Dataset scarcity, limited generalization across formats, reliance on handcrafted preprocessing, varying input modalities, need for real-time implementation and broader validation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5CF59752-216A-8C91-3502-7402B4384D7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DA73976A-F8B7-3E26-6EB4-4FA165AF5E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1435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5F8F3758-710D-DA26-ADCA-AB8A48DD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:a16="http://schemas.microsoft.com/office/drawing/2014/main" id="{B1F22ACB-3C4D-B7CF-9624-D219D2C851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058" y="361023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ctr">
              <a:buSzPts val="3600"/>
            </a:pPr>
            <a:r>
              <a:rPr lang="en-US" sz="3200" dirty="0">
                <a:latin typeface="+mj-lt"/>
                <a:ea typeface="Arimo"/>
                <a:cs typeface="Arimo"/>
                <a:sym typeface="Arimo"/>
              </a:rPr>
              <a:t>PAPER 21:</a:t>
            </a:r>
            <a:br>
              <a:rPr lang="en-US" sz="3200" dirty="0">
                <a:latin typeface="+mj-lt"/>
                <a:ea typeface="Arimo"/>
                <a:cs typeface="Arimo"/>
                <a:sym typeface="Arimo"/>
              </a:rPr>
            </a:b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“</a:t>
            </a:r>
            <a:r>
              <a:rPr lang="en-US" sz="2700" dirty="0">
                <a:latin typeface="+mn-lt"/>
              </a:rPr>
              <a:t>Artificial intelligence in sport: A narrative review of applications, challenges and future trends</a:t>
            </a:r>
            <a:r>
              <a:rPr lang="en-US" sz="2400" dirty="0">
                <a:latin typeface="+mn-lt"/>
                <a:ea typeface="Arimo"/>
                <a:cs typeface="Arimo"/>
                <a:sym typeface="Arimo"/>
              </a:rPr>
              <a:t>”</a:t>
            </a:r>
            <a:br>
              <a:rPr lang="en-US" dirty="0">
                <a:latin typeface="+mj-lt"/>
                <a:ea typeface="Arimo"/>
                <a:cs typeface="Arimo"/>
                <a:sym typeface="Arimo"/>
              </a:rPr>
            </a:br>
            <a:endParaRPr sz="27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203" name="Google Shape;203;p13">
            <a:extLst>
              <a:ext uri="{FF2B5EF4-FFF2-40B4-BE49-F238E27FC236}">
                <a16:creationId xmlns:a16="http://schemas.microsoft.com/office/drawing/2014/main" id="{6D1EF4E3-4B6E-EBA3-E57D-307BBDCF6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148869"/>
              </p:ext>
            </p:extLst>
          </p:nvPr>
        </p:nvGraphicFramePr>
        <p:xfrm>
          <a:off x="495300" y="1371886"/>
          <a:ext cx="8153400" cy="4965787"/>
        </p:xfrm>
        <a:graphic>
          <a:graphicData uri="http://schemas.openxmlformats.org/drawingml/2006/table">
            <a:tbl>
              <a:tblPr firstRow="1" bandRow="1">
                <a:noFill/>
                <a:tableStyleId>{60C65748-1827-42CB-AE1D-FC8656A6279B}</a:tableStyleId>
              </a:tblPr>
              <a:tblGrid>
                <a:gridCol w="16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28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Publication and Year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Author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Approach (Methodology)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Advantages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/>
                        <a:t>Limitations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7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dirty="0">
                          <a:effectLst/>
                        </a:rPr>
                        <a:t>Artificial intelligence in sport: A narrative review of applications, challenges and future trends</a:t>
                      </a:r>
                      <a:r>
                        <a:rPr lang="en-US" sz="1600" dirty="0">
                          <a:effectLst/>
                        </a:rPr>
                        <a:t> (2025, Journal of Sports Sciences)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 err="1">
                          <a:effectLst/>
                        </a:rPr>
                        <a:t>Diwei</a:t>
                      </a:r>
                      <a:r>
                        <a:rPr lang="en-IN" sz="1600" dirty="0">
                          <a:effectLst/>
                        </a:rPr>
                        <a:t> Zhou, Justin W.L. Keogh, </a:t>
                      </a:r>
                      <a:r>
                        <a:rPr lang="en-IN" sz="1600" dirty="0" err="1">
                          <a:effectLst/>
                        </a:rPr>
                        <a:t>Yingliang</a:t>
                      </a:r>
                      <a:r>
                        <a:rPr lang="en-IN" sz="1600" dirty="0">
                          <a:effectLst/>
                        </a:rPr>
                        <a:t> Ma, Raymond K.Y. Tong, Abdul R. Khan, Nicholas R. Jennings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Narrative review synthesizing AI applications in biomechanics, performance enhancement, sports medicine, health monitoring, coaching, and talent identification. Discusses machine learning, deep learning, NLP, computer vision, AR/VR, ensemble learning.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Broad coverage across multiple domains,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Practical tools highlighted (wearables, apps),Inclusive focus (Para athletes),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Future trends identified (digital twins, XAI)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Ethical/privacy </a:t>
                      </a:r>
                      <a:r>
                        <a:rPr lang="en-US" sz="1600" dirty="0" err="1">
                          <a:effectLst/>
                        </a:rPr>
                        <a:t>concerns,High</a:t>
                      </a:r>
                      <a:r>
                        <a:rPr lang="en-US" sz="1600" dirty="0">
                          <a:effectLst/>
                        </a:rPr>
                        <a:t> cost and complexity of adoption,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Limited accessibility outside elite sport,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“Black box” trust issues,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Accountability challenges</a:t>
                      </a:r>
                      <a:endParaRPr sz="16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CBD96FD0-5C20-58CE-A7DA-4BC06E5222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06" name="Google Shape;206;p13">
            <a:extLst>
              <a:ext uri="{FF2B5EF4-FFF2-40B4-BE49-F238E27FC236}">
                <a16:creationId xmlns:a16="http://schemas.microsoft.com/office/drawing/2014/main" id="{DDBA841D-ECE1-61F8-45F6-147839CE3B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4400" y="5976936"/>
            <a:ext cx="6096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9173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RESEARCH GAP</a:t>
            </a:r>
            <a:endParaRPr sz="4400" b="1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12" name="Google Shape;212;p1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3000" b="0" dirty="0">
                <a:latin typeface="+mn-lt"/>
              </a:rPr>
              <a:t>Lack of real-time AI-driven analytics integrating performance + injury prediction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3000" b="0" dirty="0">
                <a:latin typeface="+mn-lt"/>
              </a:rPr>
              <a:t>Limited role-based platforms combining athlete, manager, and analyst insights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3000" b="0" dirty="0">
                <a:latin typeface="+mn-lt"/>
              </a:rPr>
              <a:t>Insufficient use of predictive ML models for proactive injury prevention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214" name="Google Shape;214;p1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OBJECTIVES</a:t>
            </a:r>
            <a:endParaRPr/>
          </a:p>
        </p:txBody>
      </p:sp>
      <p:sp>
        <p:nvSpPr>
          <p:cNvPr id="221" name="Google Shape;221;p15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3000" b="0" dirty="0"/>
              <a:t>Develop an AI-powered sports analytics platform for performance optimization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3000" b="0" dirty="0"/>
              <a:t>Implement injury risk prediction using ML and historical data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3000" b="0" dirty="0"/>
              <a:t>Provide role-based dashboards with actionable data insights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223" name="Google Shape;223;p1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24" name="Google Shape;224;p15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>
            <a:spLocks noGrp="1"/>
          </p:cNvSpPr>
          <p:nvPr>
            <p:ph type="title"/>
          </p:nvPr>
        </p:nvSpPr>
        <p:spPr>
          <a:xfrm>
            <a:off x="457200" y="620688"/>
            <a:ext cx="5791200" cy="151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lgerian"/>
              <a:buNone/>
            </a:pPr>
            <a:br>
              <a:rPr lang="en-US" sz="4400" b="1">
                <a:latin typeface="Algerian"/>
                <a:ea typeface="Algerian"/>
                <a:cs typeface="Algerian"/>
                <a:sym typeface="Algerian"/>
              </a:rPr>
            </a:b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METHODOLOGY</a:t>
            </a:r>
            <a:b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400" b="1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30" name="Google Shape;230;p1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000" b="0" dirty="0"/>
              <a:t>Data Collection using performance metrics, training logs, injury records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000" b="0" dirty="0"/>
              <a:t>Machine Learning Models for prediction, classification, and trend analysis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000" b="0" dirty="0"/>
              <a:t>Visualization &amp; Dashboards using charts, KPIs, and reports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232" name="Google Shape;232;p1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33" name="Google Shape;233;p16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57200" y="908720"/>
            <a:ext cx="5791200" cy="122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EXISTING WORK FLOW</a:t>
            </a:r>
            <a:br>
              <a:rPr lang="en-US" sz="4400" b="1">
                <a:latin typeface="Algerian"/>
                <a:ea typeface="Algerian"/>
                <a:cs typeface="Algerian"/>
                <a:sym typeface="Algerian"/>
              </a:rPr>
            </a:br>
            <a:endParaRPr sz="4400" b="1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Manual data entry and analysis by coaches and analysts.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Delayed insights with limited predictive capability.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Fragmented systems with no centralized analytics platform.</a:t>
            </a:r>
          </a:p>
        </p:txBody>
      </p:sp>
      <p:sp>
        <p:nvSpPr>
          <p:cNvPr id="241" name="Google Shape;241;p1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90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PROPOSED WORK FLOW</a:t>
            </a:r>
            <a:b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400" b="1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49" name="Google Shape;249;p18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Automated data ingestion from users and sensors.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AI/ML processing for performance scoring and injury risk assessment.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Real-time dashboards with personalized recommendations.</a:t>
            </a:r>
          </a:p>
          <a:p>
            <a:pPr marL="0" lvl="0" indent="0">
              <a:spcBef>
                <a:spcPts val="0"/>
              </a:spcBef>
              <a:buSzPts val="2000"/>
            </a:pPr>
            <a:endParaRPr dirty="0"/>
          </a:p>
        </p:txBody>
      </p:sp>
      <p:sp>
        <p:nvSpPr>
          <p:cNvPr id="251" name="Google Shape;251;p1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IMPLEMENTATION</a:t>
            </a:r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Frontend: React.js, Tailwind CSS, Chart.js dashboards.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Backend: Node.js, Express.js, REST APIs, JWT authentication.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AI Module: Python-based ML models for prediction and recommendations.</a:t>
            </a:r>
            <a:endParaRPr sz="3000" b="0" dirty="0"/>
          </a:p>
        </p:txBody>
      </p:sp>
      <p:sp>
        <p:nvSpPr>
          <p:cNvPr id="260" name="Google Shape;260;p19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CONCLUSION</a:t>
            </a:r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IN" sz="3200" b="0" dirty="0"/>
              <a:t>Platform enables data-driven decision-making in sports.</a:t>
            </a:r>
          </a:p>
          <a:p>
            <a:pPr lvl="0" indent="-4572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Improves athlete performance and injury prevention.</a:t>
            </a:r>
          </a:p>
          <a:p>
            <a:pPr lvl="0" indent="-4572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Scalable solution for multiple sports and stakeholders.</a:t>
            </a:r>
            <a:endParaRPr sz="3000" b="0" dirty="0"/>
          </a:p>
        </p:txBody>
      </p:sp>
      <p:sp>
        <p:nvSpPr>
          <p:cNvPr id="269" name="Google Shape;269;p2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lgerian"/>
              <a:buNone/>
            </a:pPr>
            <a:r>
              <a:rPr lang="en-US" sz="4400" b="1">
                <a:latin typeface="Algerian"/>
                <a:ea typeface="Algerian"/>
                <a:cs typeface="Algerian"/>
                <a:sym typeface="Algerian"/>
              </a:rPr>
              <a:t>REFERENCES</a:t>
            </a:r>
            <a:endParaRPr sz="4400" b="1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76" name="Google Shape;276;p21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Research papers on AI, ML, sports analytics, biomechanics.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sz="3000" b="0" dirty="0"/>
              <a:t>Journals and surveys on injury prediction and performance optimization.</a:t>
            </a:r>
          </a:p>
          <a:p>
            <a:pPr marL="342900" lvl="0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IN" sz="3000" b="0" dirty="0"/>
              <a:t>Online resources and technical documentation.</a:t>
            </a:r>
            <a:endParaRPr sz="3000" b="0" dirty="0"/>
          </a:p>
        </p:txBody>
      </p:sp>
      <p:sp>
        <p:nvSpPr>
          <p:cNvPr id="278" name="Google Shape;278;p2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sldNum" idx="12"/>
          </p:nvPr>
        </p:nvSpPr>
        <p:spPr>
          <a:xfrm>
            <a:off x="8702675" y="5410199"/>
            <a:ext cx="365125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>
            <a:spLocks noGrp="1"/>
          </p:cNvSpPr>
          <p:nvPr>
            <p:ph type="body" idx="1"/>
          </p:nvPr>
        </p:nvSpPr>
        <p:spPr>
          <a:xfrm>
            <a:off x="762000" y="1112837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b="1">
              <a:solidFill>
                <a:schemeClr val="dk2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marL="0" lvl="0" indent="0" algn="ctr" rtl="0"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</a:pPr>
            <a:r>
              <a:rPr lang="en-US" sz="8000" b="1">
                <a:solidFill>
                  <a:schemeClr val="dk2"/>
                </a:solidFill>
                <a:latin typeface="Algerian"/>
                <a:ea typeface="Algerian"/>
                <a:cs typeface="Algerian"/>
                <a:sym typeface="Algerian"/>
              </a:rPr>
              <a:t>THANK You…</a:t>
            </a:r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AI-Driven Sport Platform </a:t>
            </a:r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sldNum" idx="12"/>
          </p:nvPr>
        </p:nvSpPr>
        <p:spPr>
          <a:xfrm>
            <a:off x="8534400" y="5410199"/>
            <a:ext cx="533400" cy="131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3374</Words>
  <Application>Microsoft Office PowerPoint</Application>
  <PresentationFormat>On-screen Show (4:3)</PresentationFormat>
  <Paragraphs>424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Times New Roman</vt:lpstr>
      <vt:lpstr>Algerian</vt:lpstr>
      <vt:lpstr>Arimo</vt:lpstr>
      <vt:lpstr>Armio</vt:lpstr>
      <vt:lpstr>Arial Black</vt:lpstr>
      <vt:lpstr>Noto Sans Symbols</vt:lpstr>
      <vt:lpstr>Calibri</vt:lpstr>
      <vt:lpstr>Essential</vt:lpstr>
      <vt:lpstr>PRESENTATION ON  AI-DRIVEN SPORT ANALYTICS PLATFORM</vt:lpstr>
      <vt:lpstr>OUTLINE</vt:lpstr>
      <vt:lpstr>INTRODUCTION</vt:lpstr>
      <vt:lpstr>MOTIVATION</vt:lpstr>
      <vt:lpstr>AIM</vt:lpstr>
      <vt:lpstr>APPLICATIONS</vt:lpstr>
      <vt:lpstr>LITERATURE SURVEY</vt:lpstr>
      <vt:lpstr>PAPER 1: “AI and Machine Learning Applications in Sports Performance Analysis”</vt:lpstr>
      <vt:lpstr>PAPER 2:  “Wearable Sensor Data Analytics for Athlete Performance and Injury Prevention” </vt:lpstr>
      <vt:lpstr>PAPER 3:  “Predictive Analytics in Sports: Injury Risk Assessment and Performance Optimization”</vt:lpstr>
      <vt:lpstr>PAPER 4: “Biomechanics of the Bowling Delivery in Cricket: A Critical Analysis”</vt:lpstr>
      <vt:lpstr>PAPER 5:  “Data Science in Sports Analytics: A Review of Performance Optimization and Fan Engagement”</vt:lpstr>
      <vt:lpstr>PAPER 6:  “Methodology and Evaluation in Sports Analytics: Challenges, Approaches, and Lessons Learned”</vt:lpstr>
      <vt:lpstr>PAPER 7:  “An AI-Driven Approach to Real-Time Sports Analytics and Performance Evaluation”</vt:lpstr>
      <vt:lpstr>PAPER 8: “The Role of Artificial Intelligence in Sports Analytics: A Systematic Review and Meta-Analysis of Performance “</vt:lpstr>
      <vt:lpstr>PAPER 9:  “Artificial Intelligence-Powered Sports Analytics: Enhancing Performance Through Data Science”</vt:lpstr>
      <vt:lpstr>PAPER 10:  “Orientation and Decision-Making for Soccer Based on Sports Analytics and AI: A Systematic Review”</vt:lpstr>
      <vt:lpstr>PAPER 11: “AI-Driven Decision Support Systems for Injury Prediction and Performance Monitoring in Sports” </vt:lpstr>
      <vt:lpstr>PAPER 12: “Artificial Intelligence Applications in Sports Biomechanics: A Scoping Review of Wearables and Motion Analysis”</vt:lpstr>
      <vt:lpstr>PAPER 13: “The Role of Artificial Intelligence in Sports Performance Analysis, Injury Prevention, and Talent Identification: A Systematic Review” </vt:lpstr>
      <vt:lpstr>    PAPER 14: “Real-Time Match-Fixing Detection in Football Using Multimodal Machine Learning Models” </vt:lpstr>
      <vt:lpstr>PAPER 15: “Real-Time Possessing Relationship Detection for Sports” </vt:lpstr>
      <vt:lpstr>PAPER 16: “Scalable Infrastructure for Efficient Real-Time Sports Analytics” </vt:lpstr>
      <vt:lpstr>PAPER 17: “Analysis of Cricket Ball Type and Innings on State Level Cricket Batter's Performance” </vt:lpstr>
      <vt:lpstr>PAPER 18: “Data Analytics in the Game of Cricket: A Novel Paradigm” </vt:lpstr>
      <vt:lpstr>PAPER 19: “Applications of Machine Learning in Cricket: A Systematic Review” </vt:lpstr>
      <vt:lpstr>PAPER 20: “Deep Learning in Cricket: A Comprehensive Survey of Shot Detection and Performance Analysis” </vt:lpstr>
      <vt:lpstr>PAPER 20: “Deep Learning in Cricket: A Comprehensive Survey of Shot Detection and Performance Analysis” </vt:lpstr>
      <vt:lpstr>PAPER 21: “Artificial intelligence in sport: A narrative review of applications, challenges and future trends” </vt:lpstr>
      <vt:lpstr>RESEARCH GAP</vt:lpstr>
      <vt:lpstr>OBJECTIVES</vt:lpstr>
      <vt:lpstr> METHODOLOGY </vt:lpstr>
      <vt:lpstr>EXISTING WORK FLOW </vt:lpstr>
      <vt:lpstr>PROPOSED WORK FLOW </vt:lpstr>
      <vt:lpstr>IMPLEMENTATION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ZANKHANA</dc:creator>
  <cp:lastModifiedBy>Dikshant Patel</cp:lastModifiedBy>
  <cp:revision>4</cp:revision>
  <dcterms:created xsi:type="dcterms:W3CDTF">2014-10-11T18:55:44Z</dcterms:created>
  <dcterms:modified xsi:type="dcterms:W3CDTF">2026-01-30T05:03:57Z</dcterms:modified>
</cp:coreProperties>
</file>